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C3F7"/>
              </a:solidFill>
              <a:ln w="12700" cap="flat">
                <a:solidFill>
                  <a:srgbClr val="111A3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D166"/>
              </a:solidFill>
              <a:ln w="12700" cap="flat">
                <a:solidFill>
                  <a:srgbClr val="111A33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6EE7A0"/>
              </a:solidFill>
              <a:ln w="12700" cap="flat">
                <a:solidFill>
                  <a:srgbClr val="111A33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B39DDB"/>
              </a:solidFill>
              <a:ln w="12700" cap="flat">
                <a:solidFill>
                  <a:srgbClr val="111A33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FF8A80"/>
              </a:solidFill>
              <a:ln w="12700" cap="flat">
                <a:solidFill>
                  <a:srgbClr val="111A33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80CBC4"/>
              </a:solidFill>
              <a:ln w="12700" cap="flat">
                <a:solidFill>
                  <a:srgbClr val="111A33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F8BBD0"/>
              </a:solidFill>
              <a:ln w="12700" cap="flat">
                <a:solidFill>
                  <a:srgbClr val="111A33"/>
                </a:solidFill>
                <a:prstDash val="solid"/>
                <a:round/>
              </a:ln>
              <a:effectLst/>
            </c:spPr>
          </c:dPt>
          <c:dPt>
            <c:idx val="7"/>
            <c:bubble3D val="0"/>
            <c:spPr>
              <a:solidFill>
                <a:srgbClr val="90A4AE"/>
              </a:solidFill>
              <a:ln w="12700" cap="flat">
                <a:solidFill>
                  <a:srgbClr val="111A3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Engineering &amp; product</c:v>
                </c:pt>
                <c:pt idx="1">
                  <c:v>Sales &amp; marketing</c:v>
                </c:pt>
                <c:pt idx="2">
                  <c:v>Compliance &amp; certs</c:v>
                </c:pt>
                <c:pt idx="3">
                  <c:v>Cloud &amp; tooling</c:v>
                </c:pt>
                <c:pt idx="4">
                  <c:v>Legal &amp; IP</c:v>
                </c:pt>
                <c:pt idx="5">
                  <c:v>Threat intel</c:v>
                </c:pt>
                <c:pt idx="6">
                  <c:v>G&amp;A</c:v>
                </c:pt>
                <c:pt idx="7">
                  <c:v>Contingency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2</c:v>
                </c:pt>
                <c:pt idx="1">
                  <c:v>0.9</c:v>
                </c:pt>
                <c:pt idx="2">
                  <c:v>0.5</c:v>
                </c:pt>
                <c:pt idx="3">
                  <c:v>0.4</c:v>
                </c:pt>
                <c:pt idx="4">
                  <c:v>0.4</c:v>
                </c:pt>
                <c:pt idx="5">
                  <c:v>0.2</c:v>
                </c:pt>
                <c:pt idx="6">
                  <c:v>0.3</c:v>
                </c:pt>
                <c:pt idx="7">
                  <c:v>0.3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111A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C3F7"/>
                </a:solidFill>
              </a:rPr>
              <a:t>UNIFIEDSEC TECHNOLOGIES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MACE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Multi-Domain Adaptive Correlation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</a:rPr>
              <a:t>Unified threat correlation and automated regulatory evidence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</a:rPr>
              <a:t>for US, EU, and GCC regulated markets.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7863840" cy="77724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7490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</a:rPr>
              <a:t>Seed — $5M in two tranches · Phase 1: $750k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     Platform built and tested  ·  156/156 automated tests  ·  Provisional patent in counsel review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disconnected tools — and a second job after every breach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554480" cy="91440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Asset inventory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8"/>
                </a:solidFill>
              </a:rPr>
              <a:t>No threat scoring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57984" y="1325880"/>
            <a:ext cx="1554480" cy="91440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57984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EDR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03704" y="17556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8"/>
                </a:solidFill>
              </a:rPr>
              <a:t>Single domain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58768" y="1325880"/>
            <a:ext cx="1554480" cy="91440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58768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Vuln scanner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04488" y="17556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8"/>
                </a:solidFill>
              </a:rPr>
              <a:t>Periodic, no identity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59552" y="1325880"/>
            <a:ext cx="1554480" cy="91440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9552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05272" y="17556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8"/>
                </a:solidFill>
              </a:rPr>
              <a:t>Manual rule tuning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0336" y="1325880"/>
            <a:ext cx="1554480" cy="91440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0336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Compliance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06056" y="17556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C8"/>
                </a:solidFill>
              </a:rPr>
              <a:t>Not incident-driven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4114800" cy="205740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F7"/>
                </a:solidFill>
              </a:rPr>
              <a:t>Hours of manual correlation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Analysts reconcile alerts across consoles with no shared asset identity — while attacker dwell time accumulates. Every serious incident then triggers a parallel compliance fire drill.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514600"/>
            <a:ext cx="3840480" cy="205740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</a:rPr>
              <a:t>Regulatory deadlines are brutal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74920" y="306324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</a:rPr>
              <a:t>FedRAMP SIR — 1 hour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</a:rPr>
              <a:t>DORA — 4 hours from classification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</a:rPr>
              <a:t>NIS2 — 24-hour early warning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</a:rPr>
              <a:t>GDPR Art. 33 — 72 hours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</a:rPr>
              <a:t>SEC 8-K — 4 business days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UnifiedSec Technologies — CONFIDENTIAL — June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pipeline: identity → correlation →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46888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UTAG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Universal Temporal Asset Graph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Probabilistic asset identity across 11 classes. Hardware-ID-boosted matching, time-decaying confidence, shadow-IT and geo-velocity detection.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72384" y="22860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51760" cy="246888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CDCS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Cross-Domain Correlation Score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2560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Explainable 7-domain score (0-10). EPSS + CISA KEV, MITRE ATT&amp;CK kill-chain and blast-radius multipliers. Weights adapt to analyst feedback.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52744" y="22860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51760" cy="246888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Universal Regulatory Evidence Automaton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560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State machine generating tamper-evident SHA-256 evidence chains and pre-filled notification drafts for 14 frameworks in minutes.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223358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069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166"/>
                </a:solidFill>
              </a:rPr>
              <a:t>Patent-pending core.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30 claims drafted across 7 components — US provisional in final counsel review; PCT within the 12-month window.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UnifiedSec Technologies — CONFIDENTIAL — June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0392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HOW SCORING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explainable formula — not a black box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223358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CDCS = min(10, [α·V + β·E + γ·I + δ·N + ε·C + ζ·T + η·H] × 10 × Sector × Blast × KC × ACS)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938528" cy="932688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</a:rPr>
              <a:t>V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963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Vulnerability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</a:rPr>
              <a:t>CVSS · EPSS · KEV · exposure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78608" y="2377440"/>
            <a:ext cx="1938528" cy="932688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336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</a:rPr>
              <a:t>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35808" y="24963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Endpoint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88336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</a:rPr>
              <a:t>EDR telemetry, kill-chain stage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0016" y="2377440"/>
            <a:ext cx="1938528" cy="932688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</a:rPr>
              <a:t>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57216" y="24963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Identity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9744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</a:rPr>
              <a:t>Impossible travel, MFA abuse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21424" y="2377440"/>
            <a:ext cx="1938528" cy="932688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</a:rPr>
              <a:t>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278624" y="24963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Network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31152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</a:rPr>
              <a:t>Lateral movement, C2, exfil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456432"/>
            <a:ext cx="1938528" cy="932688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</a:rPr>
              <a:t>C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4400" y="3575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Compliance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39136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</a:rPr>
              <a:t>STIG pass rate, patch gap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78608" y="3456432"/>
            <a:ext cx="1938528" cy="932688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88336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</a:rPr>
              <a:t>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035808" y="3575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Threat intel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88336" y="39136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</a:rPr>
              <a:t>IOC, campaign, actor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0016" y="3456432"/>
            <a:ext cx="1938528" cy="932688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</a:rPr>
              <a:t>H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157216" y="3575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Endpoint posture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09744" y="39136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</a:rPr>
              <a:t>Agent-attested device state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21424" y="3456432"/>
            <a:ext cx="1865376" cy="932688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35753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E7A0"/>
                </a:solidFill>
              </a:rPr>
              <a:t>Adaptive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31152" y="39136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</a:rPr>
              <a:t>Weights learn from analyst TP/FP feedback per jurisdiction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UnifiedSec Technologies — CONFIDENTIAL — June 2026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TRACTION —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 phase is substantially complete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804672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361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A0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Algorithm core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17739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</a:rPr>
              <a:t>156/156 automated tests passing (verified June 2026)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4023360" cy="804672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5361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A0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57800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SaaS backend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57800" y="17739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</a:rPr>
              <a:t>FastAPI · 9 DB models · 6 API route groups · JWT + encryption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4023360" cy="804672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68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A0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SOC dashboard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27066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</a:rPr>
              <a:t>React 18/TS · executive KPI summary · real-time WebSocket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304288"/>
            <a:ext cx="4023360" cy="804672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468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A0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57800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Admin portal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57800" y="27066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</a:rPr>
              <a:t>Tenant config · user management · billing scaffolding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236976"/>
            <a:ext cx="4023360" cy="804672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015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A0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3284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Connectors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5840" y="3639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</a:rPr>
              <a:t>CrowdStrike · Tenable · Splunk · Axonius · MISP · agent ingest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236976"/>
            <a:ext cx="4023360" cy="804672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4015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E7A0"/>
                </a:solidFill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57800" y="33284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Infrastructure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57800" y="3639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</a:rPr>
              <a:t>Terraform multi-region · Helm · CI/CD · Prometheus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224528"/>
            <a:ext cx="8229600" cy="530352"/>
          </a:xfrm>
          <a:prstGeom prst="rect">
            <a:avLst/>
          </a:prstGeom>
          <a:solidFill>
            <a:srgbClr val="223358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224528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A80"/>
                </a:solidFill>
              </a:rPr>
              <a:t>Honest gaps: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no customers, no third-party audit, no SOC 2 yet — all four are funded objectives of this round.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UnifiedSec Technologies — CONFIDENTIAL — June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PLATFORM EXTENSIONS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agent, attested telemetry, learning that compounds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32588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90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C3F7"/>
                </a:solidFill>
              </a:rPr>
              <a:t>UMEA agent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Single-pass scan on Windows / macOS / Linux / Android / iOS: inventory, STIG/CIS, CVE matching, EDR rules, DLP, SBOM, honeytokens.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4023360" cy="132588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90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C3F7"/>
                </a:solidFill>
              </a:rPr>
              <a:t>Hardware attestation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Reports signed by Secure Enclave / TPM 2.0 / Strongbox — a compromised agent cannot lie about its own state.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4023360" cy="132588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C3F7"/>
                </a:solidFill>
              </a:rPr>
              <a:t>Federated learning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33101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Correlation weights improve across customers with differential privacy. Raw events never leave the environment.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852928"/>
            <a:ext cx="4023360" cy="132588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C3F7"/>
                </a:solidFill>
              </a:rPr>
              <a:t>Macey assistant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33101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Tool-using GenAI over the whole platform, with deterministic fallback for air-gapped sites and a safety allowlist.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</a:rPr>
              <a:t>Positioning: consolidates core functions of point products for the mid-market — the wedge is correlation + regulatory evidence, which no incumbent ships together.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UnifiedSec Technologies — CONFIDENTIAL — June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0392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Regulation is the forcing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768096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53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FedRAMP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Continuous monitoring + 1-hour SIR for federal cloud providers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4023360" cy="768096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53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SEC 8-K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55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Cyber disclosure rule covers every US public company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4023360" cy="768096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50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NIS2 (enforced Oct 2024)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~160,000 EU essential/important entities, 24h reporting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2267712"/>
            <a:ext cx="4023360" cy="768096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350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DORA (applies Jan 2025)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651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EU financial entities, 4-hour ICT incident reports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63824"/>
            <a:ext cx="4023360" cy="768096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UAE NESA / aeCERT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Immediate notification for critical infrastructure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163824"/>
            <a:ext cx="4023360" cy="768096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CMMC 2.0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DoD contractor base needs CUI incident evidence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223358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Context, not promises: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Axonius — $200M at $2.6B (2024, ~$100M ARR)  ·  Wiz — $32B Google acquisition closed Mar 2026  ·  Vanta/Drata — unicorns on audit-prep alone.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UnifiedSec Technologies — CONFIDENTIAL — June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392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view: strong incumbents, empty intersection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22960"/>
                <a:gridCol w="4114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</a:rPr>
                        <a:t>MACE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Closest incumbent today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Cross-tool asset identity w/ temporal decay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EE7A0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Axonius — rule-based, no decay or confidence score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Explainable multi-domain pre-alert score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EE7A0"/>
                          </a:solidFill>
                        </a:rPr>
                        <a:t>Yes (7)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SIEM rules (manual); XDR scores (single-vendor)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EPSS / KEV exploit-probability prioritization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EE7A0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Tenable VPR, CrowdStrike ExPRT.AI — partial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Adaptive weights from analyst feedback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EE7A0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No direct equivalent identified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US + EU + UAE breach-notification automation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EE7A0"/>
                          </a:solidFill>
                        </a:rPr>
                        <a:t>Yes (14)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Point tools cover subsets; none spans all three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Tamper-evident evidence chain + attestation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EE7A0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Forensics tools — not wired to live correlation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3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C8"/>
                </a:solidFill>
              </a:rPr>
              <a:t>Real risks we watch: Microsoft (Sentinel/Defender) and Palo Alto (XSIAM) bundling; Vanta/Drata moving into incident-driven evidence. Defenses: patent filings, vendor neutrality, jurisdiction library depth.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UnifiedSec Technologies — CONFIDENTIAL — June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50392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Per-asset SaaS, priced against the stack it consolidates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24028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</a:rPr>
              <a:t>per asset / year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Up to 500 assets — SMB and FedRAMP contractors. Land ~$50k ACV with services.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51760" cy="224028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Professional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52044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</a:rPr>
              <a:t>per asset / year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834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Up to 5,000 assets — mid-market regulated enterprise.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51760" cy="224028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$6-8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0080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</a:rPr>
              <a:t>per asset / year (custom)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834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Unlimited — large enterprise and government.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223358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840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Expansion lever: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compliance-evidence automation is budgeted from GRC, not just the SOC — two budgets per customer, one platform.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UnifiedSec Technologies — CONFIDENTIAL — June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months to commercial proof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A33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1371600"/>
            <a:ext cx="7452360" cy="96012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4813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Months 0-3  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Foundations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828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CTO/VP Eng search · file non-provisional + PCT · SOC 2 window opens · 3 design partners signed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457200" cy="45720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A33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34440" y="2487168"/>
            <a:ext cx="7452360" cy="96012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59689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Months 4-9  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9443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5 paying pilots ($30-60k ACV) · SOC 2 Type II report · 3rd-party pen test · EU NIS2/DORA pilot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77056"/>
            <a:ext cx="457200" cy="457200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A33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34440" y="3602736"/>
            <a:ext cx="7452360" cy="96012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371246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Months 10-18  ·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Scale-up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405993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$750k-1.2M ARR target · FedRAMP 3PAO readiness · GCC reseller GTM · Series A from proof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UnifiedSec Technologies — CONFIDENTIAL — June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0392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USE OF FUNDS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$5.0M — one reconciled budget, ~20 months runway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3657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434840" y="1463040"/>
            <a:ext cx="164592" cy="16459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Text 3"/>
          <p:cNvSpPr/>
          <p:nvPr/>
        </p:nvSpPr>
        <p:spPr>
          <a:xfrm>
            <a:off x="4709160" y="1371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Engineering &amp; product (8 FTE incl. VP Eng)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909560" y="13716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$2.0M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434840" y="1874520"/>
            <a:ext cx="164592" cy="16459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1783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Sales &amp; marketing (VP Sales, AE, events)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909560" y="1783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$0.9M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34840" y="2286000"/>
            <a:ext cx="164592" cy="164592"/>
          </a:xfrm>
          <a:prstGeom prst="rect">
            <a:avLst/>
          </a:prstGeom>
          <a:solidFill>
            <a:srgbClr val="6EE7A0"/>
          </a:solidFill>
          <a:ln/>
        </p:spPr>
      </p:sp>
      <p:sp>
        <p:nvSpPr>
          <p:cNvPr id="12" name="Text 9"/>
          <p:cNvSpPr/>
          <p:nvPr/>
        </p:nvSpPr>
        <p:spPr>
          <a:xfrm>
            <a:off x="4709160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Compliance — SOC 2, ISO 27001, FedRAMP prep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9560" y="21945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$0.5M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34840" y="2697480"/>
            <a:ext cx="164592" cy="164592"/>
          </a:xfrm>
          <a:prstGeom prst="rect">
            <a:avLst/>
          </a:prstGeom>
          <a:solidFill>
            <a:srgbClr val="B39DDB"/>
          </a:solidFill>
          <a:ln/>
        </p:spPr>
      </p:sp>
      <p:sp>
        <p:nvSpPr>
          <p:cNvPr id="15" name="Text 12"/>
          <p:cNvSpPr/>
          <p:nvPr/>
        </p:nvSpPr>
        <p:spPr>
          <a:xfrm>
            <a:off x="4709160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Cloud infrastructure &amp; tooling (18 mo)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909560" y="26060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$0.4M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434840" y="3108960"/>
            <a:ext cx="164592" cy="164592"/>
          </a:xfrm>
          <a:prstGeom prst="rect">
            <a:avLst/>
          </a:prstGeom>
          <a:solidFill>
            <a:srgbClr val="FF8A80"/>
          </a:solidFill>
          <a:ln/>
        </p:spPr>
      </p:sp>
      <p:sp>
        <p:nvSpPr>
          <p:cNvPr id="18" name="Text 15"/>
          <p:cNvSpPr/>
          <p:nvPr/>
        </p:nvSpPr>
        <p:spPr>
          <a:xfrm>
            <a:off x="4709160" y="3017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Legal &amp; IP — non-provisional, PCT, corporate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909560" y="30175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$0.4M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434840" y="3520440"/>
            <a:ext cx="164592" cy="164592"/>
          </a:xfrm>
          <a:prstGeom prst="rect">
            <a:avLst/>
          </a:prstGeom>
          <a:solidFill>
            <a:srgbClr val="80CBC4"/>
          </a:solidFill>
          <a:ln/>
        </p:spPr>
      </p:sp>
      <p:sp>
        <p:nvSpPr>
          <p:cNvPr id="21" name="Text 18"/>
          <p:cNvSpPr/>
          <p:nvPr/>
        </p:nvSpPr>
        <p:spPr>
          <a:xfrm>
            <a:off x="4709160" y="3429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Threat-intel &amp; data feeds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909560" y="3429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$0.2M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434840" y="3931920"/>
            <a:ext cx="164592" cy="164592"/>
          </a:xfrm>
          <a:prstGeom prst="rect">
            <a:avLst/>
          </a:prstGeom>
          <a:solidFill>
            <a:srgbClr val="F8BBD0"/>
          </a:solidFill>
          <a:ln/>
        </p:spPr>
      </p:sp>
      <p:sp>
        <p:nvSpPr>
          <p:cNvPr id="24" name="Text 21"/>
          <p:cNvSpPr/>
          <p:nvPr/>
        </p:nvSpPr>
        <p:spPr>
          <a:xfrm>
            <a:off x="470916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G&amp;A, insurance, finance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909560" y="3840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$0.3M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434840" y="4343400"/>
            <a:ext cx="164592" cy="164592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7" name="Text 24"/>
          <p:cNvSpPr/>
          <p:nvPr/>
        </p:nvSpPr>
        <p:spPr>
          <a:xfrm>
            <a:off x="4709160" y="4251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Contingency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909560" y="42519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$0.3M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434840" y="45262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Tranched: </a:t>
            </a:r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</a:rPr>
              <a:t>Phase 1 $750k (founder + UAE engineer, market entry, SOC 2, UAE data residency) → Phase 2 $4.25M on traction milestones.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UnifiedSec Technologies — CONFIDENTIAL — June 2026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50392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TEAM &amp; RISK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about the gaps — and funded to close them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69080" cy="320040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Vivek Sindhu — Founder, CEO, Inventor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3852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Designed and implemented the full MACE algorithm, the SaaS platform, the endpoint agent, and the patent application. Deep background in cybersecurity, distributed systems, and compliance engineering.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FC3F7"/>
                </a:solidFill>
              </a:rPr>
              <a:t>First hires at close: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CTO (co-founder economics offered)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VP Engineering — FedRAMP delivery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VP Sales — federal cybersecurity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Compliance lead — SOC 2 / FedRAMP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77640" cy="320040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80"/>
                </a:solidFill>
              </a:rPr>
              <a:t>Top risks, named plainly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No revenue yet — design partners are milestone one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Single-founder concentration — CTO search, documented codebase, key-person insurance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Patent may narrow — multiple claim families + trade secrets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Incumbent bundling — vendor neutrality + jurisdiction depth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UnifiedSec Technologies — CONFIDENTIAL — June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0392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TRACTION &amp; FUNDS RAISED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Bootstrapped to a working platform — zero outside capital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4475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166"/>
                </a:solidFill>
              </a:rPr>
              <a:t>Funds raised to date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83280" y="144475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$0 external — 100% founder-built and founder-funded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8229600" cy="73152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8600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E7A0"/>
                </a:solidFill>
              </a:rPr>
              <a:t>Product traction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83280" y="22860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156/156 tests passing · live site (unifiedsectech.com) · local demo runs a 1,000-device fleet in under 2 minutes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54096"/>
            <a:ext cx="8229600" cy="73152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12724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E7A0"/>
                </a:solidFill>
              </a:rPr>
              <a:t>IP traction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83280" y="312724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30-claim US provisional patent in final counsel review · 12 figures · PCT planned within priority window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95344"/>
            <a:ext cx="8229600" cy="73152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6849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</a:rPr>
              <a:t>Commercial pipeline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83280" y="396849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Design-partner program launched — 3 slots, locked 3-year pricing · outreach list: FedRAMP contractors + UAE critical infrastructure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8"/>
                </a:solidFill>
              </a:rPr>
              <a:t>Why this matters: every dollar invested goes to market validation, not product completion.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UnifiedSec Technologies — CONFIDENTIAL — June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0392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PLANS FOR HUB71 &amp; ABU DHABI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Gulf is our first revenue market —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28600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Why MACE fits the UAE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UREA already automates NESA IAS, aeCERT, and DIFC DPL notifications — no incumbent ships this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Saudi NCA ECC support built → GCC expansion ready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Air-gapped + data-sovereign deployment for government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2286000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Our Hub71 commitment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92024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Founder relocates to Abu Dhabi for the program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First regional hire: solutions engineer, local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ADGM entity post-acceptance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GISEC presence + UAE bank/telecom/CNI outreach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223358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166"/>
                </a:solidFill>
              </a:rPr>
              <a:t>Year-one Gulf goal: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5 UAE critical-infrastructure design partners → first ARR from the market every US competitor ignores.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UnifiedSec Technologies — CONFIDENTIAL — June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50392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FC3F7"/>
                </a:solidFill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$750k now to win the Gulf.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$4.25M on proof to scale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7863840" cy="566928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06324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166"/>
                </a:solidFill>
              </a:rPr>
              <a:t>Phase 1 — $750k: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founder + UAE solutions engineer · DIFC/ADGM entry · SOC 2 + pen test · UAE data-residency deployment · GISEC.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721608"/>
            <a:ext cx="7863840" cy="566928"/>
          </a:xfrm>
          <a:prstGeom prst="rect">
            <a:avLst/>
          </a:prstGeom>
          <a:solidFill>
            <a:srgbClr val="1C2A4A"/>
          </a:solidFill>
          <a:ln w="9525">
            <a:solidFill>
              <a:srgbClr val="2E43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72160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C3F7"/>
                </a:solidFill>
              </a:rPr>
              <a:t>Phase 2 — $4.25M on milestones: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3 UAE design partners + $250k contracted ARR + SOC 2 underway → team buildout and US/EU scale.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</a:rPr>
              <a:t>Vivek Sindhu  ·  vivek.sindhu@unifiedsectech.com  ·  UnifiedSec Technologies Inc. (Delaware)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MACE Seed Round v3</dc:title>
  <dc:subject>PptxGenJS Presentation</dc:subject>
  <dc:creator>UnifiedSec Technologies</dc:creator>
  <cp:lastModifiedBy>UnifiedSec Technologies</cp:lastModifiedBy>
  <cp:revision>1</cp:revision>
  <dcterms:created xsi:type="dcterms:W3CDTF">2026-06-10T19:50:04Z</dcterms:created>
  <dcterms:modified xsi:type="dcterms:W3CDTF">2026-06-10T19:50:04Z</dcterms:modified>
</cp:coreProperties>
</file>